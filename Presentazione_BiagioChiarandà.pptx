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075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‹N›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‹N›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‹N›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‹N›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‹N›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579" y="3"/>
            <a:ext cx="518378" cy="617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7295" y="312049"/>
            <a:ext cx="316928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336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6128" y="1131821"/>
            <a:ext cx="2392680" cy="1553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1894" y="2895970"/>
            <a:ext cx="5091430" cy="274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‹N›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3233" y="-25"/>
            <a:ext cx="2476762" cy="32400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3"/>
            <a:ext cx="3588385" cy="2474595"/>
            <a:chOff x="0" y="3"/>
            <a:chExt cx="3588385" cy="24745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579" y="3"/>
              <a:ext cx="518378" cy="6170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29704"/>
              <a:ext cx="3588385" cy="1844675"/>
            </a:xfrm>
            <a:custGeom>
              <a:avLst/>
              <a:gdLst/>
              <a:ahLst/>
              <a:cxnLst/>
              <a:rect l="l" t="t" r="r" b="b"/>
              <a:pathLst>
                <a:path w="3588385" h="1844675">
                  <a:moveTo>
                    <a:pt x="3588130" y="0"/>
                  </a:moveTo>
                  <a:lnTo>
                    <a:pt x="0" y="0"/>
                  </a:lnTo>
                  <a:lnTo>
                    <a:pt x="0" y="1844548"/>
                  </a:lnTo>
                  <a:lnTo>
                    <a:pt x="3588130" y="1844548"/>
                  </a:lnTo>
                  <a:lnTo>
                    <a:pt x="35881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1149" y="789073"/>
            <a:ext cx="3113405" cy="9277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/>
              <a:t>Sviluppo</a:t>
            </a:r>
            <a:r>
              <a:rPr spc="60" dirty="0"/>
              <a:t> </a:t>
            </a:r>
            <a:r>
              <a:rPr dirty="0"/>
              <a:t>di</a:t>
            </a:r>
            <a:r>
              <a:rPr spc="70" dirty="0"/>
              <a:t> </a:t>
            </a:r>
            <a:r>
              <a:rPr dirty="0"/>
              <a:t>algoritmi</a:t>
            </a:r>
            <a:r>
              <a:rPr spc="65" dirty="0"/>
              <a:t> </a:t>
            </a:r>
            <a:r>
              <a:rPr dirty="0"/>
              <a:t>di</a:t>
            </a:r>
            <a:r>
              <a:rPr spc="65" dirty="0"/>
              <a:t> </a:t>
            </a:r>
            <a:r>
              <a:rPr dirty="0"/>
              <a:t>machine</a:t>
            </a:r>
            <a:r>
              <a:rPr spc="65" dirty="0"/>
              <a:t> </a:t>
            </a:r>
            <a:r>
              <a:rPr spc="-10" dirty="0"/>
              <a:t>learning </a:t>
            </a:r>
            <a:r>
              <a:rPr dirty="0"/>
              <a:t>per</a:t>
            </a:r>
            <a:r>
              <a:rPr spc="80" dirty="0"/>
              <a:t> </a:t>
            </a:r>
            <a:r>
              <a:rPr dirty="0"/>
              <a:t>l’identificazione</a:t>
            </a:r>
            <a:r>
              <a:rPr spc="80" dirty="0"/>
              <a:t> </a:t>
            </a:r>
            <a:r>
              <a:rPr dirty="0"/>
              <a:t>della</a:t>
            </a:r>
            <a:r>
              <a:rPr spc="80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45" dirty="0"/>
              <a:t> </a:t>
            </a:r>
            <a:r>
              <a:rPr dirty="0"/>
              <a:t>a</a:t>
            </a:r>
            <a:r>
              <a:rPr spc="45" dirty="0"/>
              <a:t> </a:t>
            </a:r>
            <a:r>
              <a:rPr dirty="0"/>
              <a:t>partire</a:t>
            </a:r>
            <a:r>
              <a:rPr spc="50" dirty="0"/>
              <a:t> </a:t>
            </a:r>
            <a:r>
              <a:rPr dirty="0"/>
              <a:t>da</a:t>
            </a:r>
            <a:r>
              <a:rPr spc="45" dirty="0"/>
              <a:t> </a:t>
            </a:r>
            <a:r>
              <a:rPr dirty="0"/>
              <a:t>serie</a:t>
            </a:r>
            <a:r>
              <a:rPr spc="45" dirty="0"/>
              <a:t> </a:t>
            </a:r>
            <a:r>
              <a:rPr dirty="0"/>
              <a:t>temporali</a:t>
            </a:r>
            <a:r>
              <a:rPr spc="50" dirty="0"/>
              <a:t> </a:t>
            </a:r>
            <a:r>
              <a:rPr spc="-25" dirty="0"/>
              <a:t>di </a:t>
            </a:r>
            <a:r>
              <a:rPr spc="-10" dirty="0"/>
              <a:t>v</a:t>
            </a:r>
            <a:r>
              <a:rPr spc="15" dirty="0"/>
              <a:t>ariabilit</a:t>
            </a:r>
            <a:r>
              <a:rPr spc="-540" dirty="0"/>
              <a:t>a</a:t>
            </a:r>
            <a:r>
              <a:rPr spc="15" dirty="0"/>
              <a:t>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1149" y="1715592"/>
            <a:ext cx="2780030" cy="6648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900" dirty="0">
                <a:solidFill>
                  <a:srgbClr val="003366"/>
                </a:solidFill>
                <a:latin typeface="Calibri"/>
                <a:cs typeface="Calibri"/>
              </a:rPr>
              <a:t>Corso</a:t>
            </a:r>
            <a:r>
              <a:rPr sz="900" spc="-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66"/>
                </a:solidFill>
                <a:latin typeface="Calibri"/>
                <a:cs typeface="Calibri"/>
              </a:rPr>
              <a:t>di</a:t>
            </a:r>
            <a:r>
              <a:rPr sz="900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66"/>
                </a:solidFill>
                <a:latin typeface="Calibri"/>
                <a:cs typeface="Calibri"/>
              </a:rPr>
              <a:t>laurea</a:t>
            </a:r>
            <a:r>
              <a:rPr sz="900" spc="-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66"/>
                </a:solidFill>
                <a:latin typeface="Calibri"/>
                <a:cs typeface="Calibri"/>
              </a:rPr>
              <a:t>in</a:t>
            </a:r>
            <a:r>
              <a:rPr sz="900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366"/>
                </a:solidFill>
                <a:latin typeface="Calibri"/>
                <a:cs typeface="Calibri"/>
              </a:rPr>
              <a:t>Informatica</a:t>
            </a:r>
            <a:r>
              <a:rPr sz="900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66"/>
                </a:solidFill>
                <a:latin typeface="Calibri"/>
                <a:cs typeface="Calibri"/>
              </a:rPr>
              <a:t>per</a:t>
            </a:r>
            <a:r>
              <a:rPr sz="900" spc="-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66"/>
                </a:solidFill>
                <a:latin typeface="Calibri"/>
                <a:cs typeface="Calibri"/>
              </a:rPr>
              <a:t>la</a:t>
            </a:r>
            <a:r>
              <a:rPr sz="900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366"/>
                </a:solidFill>
                <a:latin typeface="Calibri"/>
                <a:cs typeface="Calibri"/>
              </a:rPr>
              <a:t>Comunicazione</a:t>
            </a:r>
            <a:r>
              <a:rPr sz="900" spc="-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366"/>
                </a:solidFill>
                <a:latin typeface="Calibri"/>
                <a:cs typeface="Calibri"/>
              </a:rPr>
              <a:t>Digitale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800" b="1" dirty="0">
                <a:latin typeface="Calibri"/>
                <a:cs typeface="Calibri"/>
              </a:rPr>
              <a:t>Biagio</a:t>
            </a:r>
            <a:r>
              <a:rPr sz="800" b="1" spc="-25" dirty="0">
                <a:latin typeface="Calibri"/>
                <a:cs typeface="Calibri"/>
              </a:rPr>
              <a:t> </a:t>
            </a:r>
            <a:r>
              <a:rPr sz="800" b="1" spc="-35" dirty="0">
                <a:latin typeface="Calibri"/>
                <a:cs typeface="Calibri"/>
              </a:rPr>
              <a:t>Chiaranda`</a:t>
            </a:r>
            <a:r>
              <a:rPr sz="800" b="1" spc="4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(959914)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b="1" spc="-10" dirty="0">
                <a:solidFill>
                  <a:srgbClr val="003366"/>
                </a:solidFill>
                <a:latin typeface="Calibri"/>
                <a:cs typeface="Calibri"/>
              </a:rPr>
              <a:t>Relatore:</a:t>
            </a:r>
            <a:r>
              <a:rPr sz="800" b="1" spc="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3366"/>
                </a:solidFill>
                <a:latin typeface="Calibri"/>
                <a:cs typeface="Calibri"/>
              </a:rPr>
              <a:t>Dott.</a:t>
            </a:r>
            <a:r>
              <a:rPr sz="800" spc="1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3366"/>
                </a:solidFill>
                <a:latin typeface="Calibri"/>
                <a:cs typeface="Calibri"/>
              </a:rPr>
              <a:t>Massimo</a:t>
            </a:r>
            <a:r>
              <a:rPr sz="800" spc="-1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03366"/>
                </a:solidFill>
                <a:latin typeface="Calibri"/>
                <a:cs typeface="Calibri"/>
              </a:rPr>
              <a:t>Walter Rivolta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b="1" dirty="0">
                <a:solidFill>
                  <a:srgbClr val="003366"/>
                </a:solidFill>
                <a:latin typeface="Calibri"/>
                <a:cs typeface="Calibri"/>
              </a:rPr>
              <a:t>Correlatori: </a:t>
            </a:r>
            <a:r>
              <a:rPr sz="800" dirty="0">
                <a:solidFill>
                  <a:srgbClr val="003366"/>
                </a:solidFill>
                <a:latin typeface="Calibri"/>
                <a:cs typeface="Calibri"/>
              </a:rPr>
              <a:t>Dott. Md</a:t>
            </a:r>
            <a:r>
              <a:rPr sz="800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3366"/>
                </a:solidFill>
                <a:latin typeface="Calibri"/>
                <a:cs typeface="Calibri"/>
              </a:rPr>
              <a:t>Moklesur</a:t>
            </a:r>
            <a:r>
              <a:rPr sz="800" spc="-3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03366"/>
                </a:solidFill>
                <a:latin typeface="Calibri"/>
                <a:cs typeface="Calibri"/>
              </a:rPr>
              <a:t>Rahman</a:t>
            </a:r>
            <a:r>
              <a:rPr sz="800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003366"/>
                </a:solidFill>
                <a:latin typeface="Calibri"/>
                <a:cs typeface="Calibri"/>
              </a:rPr>
              <a:t>e</a:t>
            </a:r>
            <a:r>
              <a:rPr sz="800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03366"/>
                </a:solidFill>
                <a:latin typeface="Calibri"/>
                <a:cs typeface="Calibri"/>
              </a:rPr>
              <a:t>Prof.</a:t>
            </a:r>
            <a:r>
              <a:rPr sz="800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03366"/>
                </a:solidFill>
                <a:latin typeface="Calibri"/>
                <a:cs typeface="Calibri"/>
              </a:rPr>
              <a:t>Roberto</a:t>
            </a:r>
            <a:r>
              <a:rPr sz="800" spc="-25" dirty="0">
                <a:solidFill>
                  <a:srgbClr val="003366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003366"/>
                </a:solidFill>
                <a:latin typeface="Calibri"/>
                <a:cs typeface="Calibri"/>
              </a:rPr>
              <a:t>Sassi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3018077"/>
            <a:ext cx="184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60" dirty="0">
                <a:solidFill>
                  <a:srgbClr val="3F3F3F"/>
                </a:solidFill>
                <a:latin typeface="Calibri"/>
                <a:cs typeface="Calibri"/>
              </a:rPr>
              <a:t>1/15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Contesto</a:t>
            </a:r>
            <a:r>
              <a:rPr spc="35" dirty="0"/>
              <a:t> </a:t>
            </a:r>
            <a:r>
              <a:rPr spc="-10" dirty="0"/>
              <a:t>iniziale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58099"/>
            <a:ext cx="5066030" cy="1396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52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Il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progetto,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svolto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presso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il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BiSP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Lab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dell’Universita`</a:t>
            </a:r>
            <a:r>
              <a:rPr sz="1100" spc="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degli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Studi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Milano,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mira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sviluppare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algoritmi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Machine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Learning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l’identificazione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automatica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della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atriale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da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segnali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ECG,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collaborazione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con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il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Dott.</a:t>
            </a:r>
            <a:r>
              <a:rPr sz="11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Massimo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Walter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Rivolta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Dott.</a:t>
            </a:r>
            <a:r>
              <a:rPr sz="11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Md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Moklesur Rahman.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5"/>
              </a:spcBef>
            </a:pP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L’integrazione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tecniche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elaborazione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segnale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Machine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Learning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rappresenta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un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approccio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promettente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migliorare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diagnosi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automatica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non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invasiva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patologie cardiache.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2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Obiettivo</a:t>
            </a:r>
            <a:r>
              <a:rPr spc="15" dirty="0"/>
              <a:t> </a:t>
            </a:r>
            <a:r>
              <a:rPr dirty="0"/>
              <a:t>del</a:t>
            </a:r>
            <a:r>
              <a:rPr spc="15" dirty="0"/>
              <a:t> </a:t>
            </a:r>
            <a:r>
              <a:rPr spc="-10" dirty="0"/>
              <a:t>lavoro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30743"/>
            <a:ext cx="4993005" cy="16554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L’obiettivo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principale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lavoro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29" dirty="0">
                <a:solidFill>
                  <a:srgbClr val="3F3F3F"/>
                </a:solidFill>
                <a:latin typeface="Calibri"/>
                <a:cs typeface="Calibri"/>
              </a:rPr>
              <a:t>e`</a:t>
            </a:r>
            <a:r>
              <a:rPr sz="1100" spc="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stato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sviluppo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il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confronto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algoritmi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Machine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Learning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grado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identificare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automaticamente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casi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atriale.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raggiungere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questo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scopo,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sono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stati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svolti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seguenti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passaggi: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Preprocessing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migliorare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Calibri"/>
                <a:cs typeface="Calibri"/>
              </a:rPr>
              <a:t>qualita`</a:t>
            </a:r>
            <a:r>
              <a:rPr sz="1100" spc="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dati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4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Segmentazione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segnali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finestre temporali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secondi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0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Estrazione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basate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HRV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PRSA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Addestramento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ottimizzazione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diversi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modelli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ML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Validazione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 confronto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dataset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pubblici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(PhysioNet, 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MIT-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BIH)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spc="-10" dirty="0"/>
              <a:t>3</a:t>
            </a:fld>
            <a:r>
              <a:rPr spc="-10" dirty="0"/>
              <a:t>/15</a:t>
            </a:r>
            <a:r>
              <a:rPr spc="204" dirty="0"/>
              <a:t> </a:t>
            </a:r>
            <a:r>
              <a:rPr spc="-10" dirty="0"/>
              <a:t>Biagio </a:t>
            </a:r>
            <a:r>
              <a:rPr spc="-30" dirty="0"/>
              <a:t>Chiaranda`</a:t>
            </a:r>
            <a:r>
              <a:rPr spc="28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75" dirty="0">
                <a:latin typeface="Arial"/>
                <a:cs typeface="Arial"/>
              </a:rPr>
              <a:t> </a:t>
            </a:r>
            <a:r>
              <a:rPr spc="-10" dirty="0"/>
              <a:t>Sviluppo </a:t>
            </a:r>
            <a:r>
              <a:rPr dirty="0"/>
              <a:t>di</a:t>
            </a:r>
            <a:r>
              <a:rPr spc="-10" dirty="0"/>
              <a:t> 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0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0" dirty="0"/>
              <a:t> l’identificazione </a:t>
            </a:r>
            <a:r>
              <a:rPr dirty="0"/>
              <a:t>della</a:t>
            </a:r>
            <a:r>
              <a:rPr spc="-10" dirty="0"/>
              <a:t> fibrillazione atriale </a:t>
            </a:r>
            <a:r>
              <a:rPr dirty="0"/>
              <a:t>a</a:t>
            </a:r>
            <a:r>
              <a:rPr spc="-10" dirty="0"/>
              <a:t> partire </a:t>
            </a:r>
            <a:r>
              <a:rPr spc="-25" dirty="0"/>
              <a:t>da</a:t>
            </a:r>
            <a:r>
              <a:rPr spc="500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dirty="0"/>
              <a:t> di </a:t>
            </a:r>
            <a:r>
              <a:rPr spc="-35" dirty="0"/>
              <a:t>variabilita`</a:t>
            </a:r>
            <a:r>
              <a:rPr spc="75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30" dirty="0"/>
              <a:t>Cos’</a:t>
            </a:r>
            <a:r>
              <a:rPr spc="-535" dirty="0"/>
              <a:t>e</a:t>
            </a:r>
            <a:r>
              <a:rPr spc="30" dirty="0"/>
              <a:t>`</a:t>
            </a:r>
            <a:r>
              <a:rPr spc="165" dirty="0"/>
              <a:t> </a:t>
            </a:r>
            <a:r>
              <a:rPr dirty="0"/>
              <a:t>la</a:t>
            </a:r>
            <a:r>
              <a:rPr spc="15" dirty="0"/>
              <a:t> </a:t>
            </a:r>
            <a:r>
              <a:rPr dirty="0"/>
              <a:t>Fibrillazione</a:t>
            </a:r>
            <a:r>
              <a:rPr spc="20" dirty="0"/>
              <a:t> </a:t>
            </a:r>
            <a:r>
              <a:rPr spc="-10" dirty="0"/>
              <a:t>Atriale?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302" y="891297"/>
            <a:ext cx="2788285" cy="15417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826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atriale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(AF)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29" dirty="0">
                <a:solidFill>
                  <a:srgbClr val="3F3F3F"/>
                </a:solidFill>
                <a:latin typeface="Calibri"/>
                <a:cs typeface="Calibri"/>
              </a:rPr>
              <a:t>e`</a:t>
            </a:r>
            <a:r>
              <a:rPr sz="1100" spc="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5" dirty="0">
                <a:solidFill>
                  <a:srgbClr val="3F3F3F"/>
                </a:solidFill>
                <a:latin typeface="Calibri"/>
                <a:cs typeface="Calibri"/>
              </a:rPr>
              <a:t>piu`</a:t>
            </a:r>
            <a:r>
              <a:rPr sz="1100" spc="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comune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aritmia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cardiaca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verifica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quando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gli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atri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del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cuore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battono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modo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irregolare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disorganizzato,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invece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contrarsi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normalmente.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54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atriale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viene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diagnosticata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tramite elettrocardiogramma,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che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mostra: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Assenza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dell’onda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Intervalli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RR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irregolari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0021" y="962515"/>
            <a:ext cx="2011520" cy="161280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294" y="2897884"/>
            <a:ext cx="506603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344170" algn="l"/>
              </a:tabLst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4/15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Biagio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Chiaranda`</a:t>
            </a:r>
            <a:r>
              <a:rPr sz="8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800" i="1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Sviluppo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algoritmi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 machine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per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l’identificazione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della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fibrillazione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atriale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partire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serie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temporali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35" dirty="0">
                <a:solidFill>
                  <a:srgbClr val="FFFFFF"/>
                </a:solidFill>
                <a:latin typeface="Calibri"/>
                <a:cs typeface="Calibri"/>
              </a:rPr>
              <a:t>variabilita`</a:t>
            </a:r>
            <a:r>
              <a:rPr sz="8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cardiaca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Dataset</a:t>
            </a:r>
            <a:r>
              <a:rPr spc="50" dirty="0"/>
              <a:t> </a:t>
            </a:r>
            <a:r>
              <a:rPr spc="-10" dirty="0"/>
              <a:t>utilizzati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9724" y="668908"/>
          <a:ext cx="4857115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Caratteristica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3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MIT-</a:t>
                      </a:r>
                      <a:r>
                        <a:rPr sz="1100" b="1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BIH </a:t>
                      </a:r>
                      <a:r>
                        <a:rPr sz="1100" b="1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AFDB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PhysioNet</a:t>
                      </a:r>
                      <a:r>
                        <a:rPr sz="1100" b="1" spc="-1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2017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Fonte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Beth</a:t>
                      </a:r>
                      <a:r>
                        <a:rPr sz="1100" spc="1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Israel</a:t>
                      </a:r>
                      <a:r>
                        <a:rPr sz="1100" spc="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Deaconess</a:t>
                      </a:r>
                      <a:r>
                        <a:rPr sz="1100" spc="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Medi-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cal</a:t>
                      </a:r>
                      <a:r>
                        <a:rPr sz="1100" spc="-3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Center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Vari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istituti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(PhysioNet)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Numero</a:t>
                      </a:r>
                      <a:r>
                        <a:rPr sz="1100" spc="14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di</a:t>
                      </a:r>
                      <a:r>
                        <a:rPr sz="1100" spc="14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regis-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trazioni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Oltre</a:t>
                      </a:r>
                      <a:r>
                        <a:rPr sz="1100" spc="-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8.500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Durata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dei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segnali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100" spc="-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ore</a:t>
                      </a:r>
                      <a:r>
                        <a:rPr sz="1100" spc="-3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ciascuno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Variabile</a:t>
                      </a:r>
                      <a:r>
                        <a:rPr sz="1100" spc="-1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(da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9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60s)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Derivazioni</a:t>
                      </a:r>
                      <a:r>
                        <a:rPr sz="1100" spc="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ECG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Frequenza</a:t>
                      </a:r>
                      <a:r>
                        <a:rPr sz="1100" spc="1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di</a:t>
                      </a:r>
                      <a:r>
                        <a:rPr sz="1100" spc="1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cam-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pionamento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250</a:t>
                      </a:r>
                      <a:r>
                        <a:rPr sz="1100" spc="-3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Hz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300</a:t>
                      </a:r>
                      <a:r>
                        <a:rPr sz="1100" spc="7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Hz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Risoluzione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8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12-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16-</a:t>
                      </a: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Categorie</a:t>
                      </a:r>
                      <a:r>
                        <a:rPr sz="1100" spc="-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di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ritmo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4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AF,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AFL,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J,</a:t>
                      </a: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AF,</a:t>
                      </a:r>
                      <a:r>
                        <a:rPr sz="1100" spc="459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Noisy,</a:t>
                      </a:r>
                      <a:r>
                        <a:rPr sz="1100" spc="16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Normal,</a:t>
                      </a:r>
                      <a:r>
                        <a:rPr sz="1100" spc="17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Rhythms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2897884"/>
            <a:ext cx="506603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5/15</a:t>
            </a:r>
            <a:r>
              <a:rPr sz="800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Biagio 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Chiaranda`</a:t>
            </a:r>
            <a:r>
              <a:rPr sz="8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800" i="1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Sviluppo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algoritmi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learning</a:t>
            </a:r>
            <a:r>
              <a:rPr sz="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l’identificazione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della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fibrillazione atriale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partire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serie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temporali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di </a:t>
            </a:r>
            <a:r>
              <a:rPr sz="800" spc="-35" dirty="0">
                <a:solidFill>
                  <a:srgbClr val="FFFFFF"/>
                </a:solidFill>
                <a:latin typeface="Calibri"/>
                <a:cs typeface="Calibri"/>
              </a:rPr>
              <a:t>variabilita`</a:t>
            </a:r>
            <a:r>
              <a:rPr sz="8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cardiaca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Esperimenti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2234" y="999298"/>
            <a:ext cx="4746625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785" marR="5080" indent="-149225">
              <a:lnSpc>
                <a:spcPct val="102600"/>
              </a:lnSpc>
              <a:spcBef>
                <a:spcPts val="55"/>
              </a:spcBef>
              <a:buClr>
                <a:srgbClr val="003366"/>
              </a:buClr>
              <a:buAutoNum type="arabicPeriod"/>
              <a:tabLst>
                <a:tab pos="18478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Addestramento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validazione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modello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ampio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dataset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bilanciato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(PhysioNet </a:t>
            </a:r>
            <a:r>
              <a:rPr sz="1100" spc="-40" dirty="0">
                <a:solidFill>
                  <a:srgbClr val="3F3F3F"/>
                </a:solidFill>
                <a:latin typeface="Calibri"/>
                <a:cs typeface="Calibri"/>
              </a:rPr>
              <a:t>2017),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segmentato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finestre regolari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6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secondi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suddivisio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training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test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assicurando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separazionetra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pazienti.</a:t>
            </a:r>
            <a:endParaRPr sz="1100">
              <a:latin typeface="Calibri"/>
              <a:cs typeface="Calibri"/>
            </a:endParaRPr>
          </a:p>
          <a:p>
            <a:pPr marL="184785" marR="155575" indent="-172720">
              <a:lnSpc>
                <a:spcPct val="102600"/>
              </a:lnSpc>
              <a:spcBef>
                <a:spcPts val="300"/>
              </a:spcBef>
              <a:buClr>
                <a:srgbClr val="003366"/>
              </a:buClr>
              <a:buAutoNum type="arabicPeriod"/>
              <a:tabLst>
                <a:tab pos="18478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Addestramento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validazione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un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sottoinsieme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casuale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secondo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dataset 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(MIT-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BIH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AFDB),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mantenendo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anche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questo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caso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separazione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tra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pazienti.</a:t>
            </a:r>
            <a:endParaRPr sz="1100">
              <a:latin typeface="Calibri"/>
              <a:cs typeface="Calibri"/>
            </a:endParaRPr>
          </a:p>
          <a:p>
            <a:pPr marL="184785" marR="23495" indent="-172720">
              <a:lnSpc>
                <a:spcPct val="102699"/>
              </a:lnSpc>
              <a:spcBef>
                <a:spcPts val="300"/>
              </a:spcBef>
              <a:buClr>
                <a:srgbClr val="003366"/>
              </a:buClr>
              <a:buAutoNum type="arabicPeriod"/>
              <a:tabLst>
                <a:tab pos="18478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Validazione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incrociata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dataset,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con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addestramento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segmenti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PhysioNet </a:t>
            </a:r>
            <a:r>
              <a:rPr sz="1100" spc="-65" dirty="0">
                <a:solidFill>
                  <a:srgbClr val="3F3F3F"/>
                </a:solidFill>
                <a:latin typeface="Calibri"/>
                <a:cs typeface="Calibri"/>
              </a:rPr>
              <a:t>2017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test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dati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MIT-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BIH.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2897884"/>
            <a:ext cx="506603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344170" algn="l"/>
              </a:tabLst>
            </a:pPr>
            <a:r>
              <a:rPr sz="800" spc="-20" dirty="0">
                <a:solidFill>
                  <a:srgbClr val="FFFFFF"/>
                </a:solidFill>
                <a:latin typeface="Calibri"/>
                <a:cs typeface="Calibri"/>
              </a:rPr>
              <a:t>6/15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Biagio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Chiaranda`</a:t>
            </a:r>
            <a:r>
              <a:rPr sz="8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800" i="1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Sviluppo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algoritmi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 machine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per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l’identificazione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della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fibrillazione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atriale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partire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serie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temporali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35" dirty="0">
                <a:solidFill>
                  <a:srgbClr val="FFFFFF"/>
                </a:solidFill>
                <a:latin typeface="Calibri"/>
                <a:cs typeface="Calibri"/>
              </a:rPr>
              <a:t>variabilita`</a:t>
            </a:r>
            <a:r>
              <a:rPr sz="80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cardiaca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Preprocessing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908" y="1013115"/>
            <a:ext cx="2491740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492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Prima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dell’estrazione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delle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feature,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segnali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sono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stati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sottoposti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una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fase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pre-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processamento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che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ha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incluso: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Filtraggio</a:t>
            </a:r>
            <a:r>
              <a:rPr sz="1100" b="1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passa-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banda</a:t>
            </a:r>
            <a:r>
              <a:rPr sz="11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(0.5–40</a:t>
            </a:r>
            <a:r>
              <a:rPr sz="1100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Hz)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4"/>
              </a:spcBef>
              <a:buClr>
                <a:srgbClr val="003366"/>
              </a:buClr>
              <a:buFont typeface="Calibri"/>
              <a:buChar char="•"/>
              <a:tabLst>
                <a:tab pos="288925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Normalizzazione</a:t>
            </a:r>
            <a:r>
              <a:rPr sz="1100" b="1" spc="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Min-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Max</a:t>
            </a:r>
            <a:r>
              <a:rPr sz="11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Scaling</a:t>
            </a:r>
            <a:endParaRPr sz="1100">
              <a:latin typeface="Calibri"/>
              <a:cs typeface="Calibri"/>
            </a:endParaRPr>
          </a:p>
          <a:p>
            <a:pPr marL="289560" marR="5080" indent="-138430">
              <a:lnSpc>
                <a:spcPct val="102699"/>
              </a:lnSpc>
              <a:spcBef>
                <a:spcPts val="295"/>
              </a:spcBef>
              <a:buClr>
                <a:srgbClr val="003366"/>
              </a:buClr>
              <a:buFont typeface="Calibri"/>
              <a:buChar char="•"/>
              <a:tabLst>
                <a:tab pos="289560" algn="l"/>
              </a:tabLst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Segmentazione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finestre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temporali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di </a:t>
            </a:r>
            <a:r>
              <a:rPr sz="1100" spc="-65" dirty="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secondi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2872" y="849815"/>
            <a:ext cx="2419222" cy="180490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294" y="2897884"/>
            <a:ext cx="506603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7/15</a:t>
            </a:r>
            <a:r>
              <a:rPr sz="800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Biagio </a:t>
            </a:r>
            <a:r>
              <a:rPr sz="800" spc="-30" dirty="0">
                <a:solidFill>
                  <a:srgbClr val="FFFFFF"/>
                </a:solidFill>
                <a:latin typeface="Calibri"/>
                <a:cs typeface="Calibri"/>
              </a:rPr>
              <a:t>Chiaranda`</a:t>
            </a:r>
            <a:r>
              <a:rPr sz="800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i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800" i="1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Sviluppo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algoritmi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di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machine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learning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per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l’identificazione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della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 fibrillazione atriale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partire </a:t>
            </a:r>
            <a:r>
              <a:rPr sz="800" spc="-25" dirty="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sz="8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serie</a:t>
            </a:r>
            <a:r>
              <a:rPr sz="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temporali</a:t>
            </a: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 di </a:t>
            </a:r>
            <a:r>
              <a:rPr sz="800" spc="-35" dirty="0">
                <a:solidFill>
                  <a:srgbClr val="FFFFFF"/>
                </a:solidFill>
                <a:latin typeface="Calibri"/>
                <a:cs typeface="Calibri"/>
              </a:rPr>
              <a:t>variabilita`</a:t>
            </a:r>
            <a:r>
              <a:rPr sz="8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cardiaca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Intervalli</a:t>
            </a:r>
            <a:r>
              <a:rPr spc="40" dirty="0"/>
              <a:t> </a:t>
            </a:r>
            <a:r>
              <a:rPr spc="-35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678864"/>
            <a:ext cx="2948940" cy="19983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Gli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intervalli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RR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rappresentano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tempi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che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intercorrono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due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battiti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cardiaci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consecutivi, misurati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come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distanza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picchi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complessi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QRS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nel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segnale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ECG.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Calibri"/>
              <a:cs typeface="Calibri"/>
            </a:endParaRPr>
          </a:p>
          <a:p>
            <a:pPr marL="289560" marR="52069" indent="-138430">
              <a:lnSpc>
                <a:spcPct val="102600"/>
              </a:lnSpc>
              <a:buClr>
                <a:srgbClr val="003366"/>
              </a:buClr>
              <a:buChar char="•"/>
              <a:tabLst>
                <a:tab pos="289560" algn="l"/>
              </a:tabLst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Sono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fondamentali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analizzare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45" dirty="0">
                <a:solidFill>
                  <a:srgbClr val="3F3F3F"/>
                </a:solidFill>
                <a:latin typeface="Calibri"/>
                <a:cs typeface="Calibri"/>
              </a:rPr>
              <a:t>variabilita`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b="1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ritmo</a:t>
            </a:r>
            <a:r>
              <a:rPr sz="1100" b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cardiaco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Permettono</a:t>
            </a:r>
            <a:r>
              <a:rPr sz="11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l’estrazione</a:t>
            </a:r>
            <a:r>
              <a:rPr sz="1100" spc="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delle</a:t>
            </a:r>
            <a:r>
              <a:rPr sz="11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89560" marR="212090" indent="-138430">
              <a:lnSpc>
                <a:spcPct val="102600"/>
              </a:lnSpc>
              <a:spcBef>
                <a:spcPts val="300"/>
              </a:spcBef>
              <a:buClr>
                <a:srgbClr val="003366"/>
              </a:buClr>
              <a:buChar char="•"/>
              <a:tabLst>
                <a:tab pos="289560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Riflettono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direttamente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Calibri"/>
                <a:cs typeface="Calibri"/>
              </a:rPr>
              <a:t>regolarita`</a:t>
            </a:r>
            <a:r>
              <a:rPr sz="1100" spc="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l’irregolarita`</a:t>
            </a:r>
            <a:r>
              <a:rPr sz="1100" spc="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ritmo,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utile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identificare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condizioni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come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atriale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9213" y="1294604"/>
            <a:ext cx="1870798" cy="97258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8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Feature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50427"/>
            <a:ext cx="404812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estratte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suddividono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categorie: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4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statistiche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classiche:</a:t>
            </a:r>
            <a:r>
              <a:rPr sz="11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Heart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Rate,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Mean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RR,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STDRR,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RMSSD.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0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non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lineari:</a:t>
            </a:r>
            <a:r>
              <a:rPr sz="1100" spc="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3F3F3F"/>
                </a:solidFill>
                <a:latin typeface="Calibri"/>
                <a:cs typeface="Calibri"/>
              </a:rPr>
              <a:t>SD1,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Sample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Entropy,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Approximate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Entropy.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PRSA-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based:</a:t>
            </a:r>
            <a:r>
              <a:rPr sz="1100" spc="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3F3F3F"/>
                </a:solidFill>
                <a:latin typeface="Calibri"/>
                <a:cs typeface="Calibri"/>
              </a:rPr>
              <a:t>Capacita`</a:t>
            </a:r>
            <a:r>
              <a:rPr sz="1100" spc="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Decelerazione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(DC).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454" y="1702591"/>
            <a:ext cx="4993748" cy="8425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9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Algoritmi</a:t>
            </a:r>
            <a:r>
              <a:rPr spc="60" dirty="0"/>
              <a:t> </a:t>
            </a:r>
            <a:r>
              <a:rPr dirty="0"/>
              <a:t>di</a:t>
            </a:r>
            <a:r>
              <a:rPr spc="65" dirty="0"/>
              <a:t> </a:t>
            </a:r>
            <a:r>
              <a:rPr spc="-10" dirty="0"/>
              <a:t>classificazione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73847"/>
            <a:ext cx="5048885" cy="15862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classificazione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automatica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segmenti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ECG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sono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stati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testati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seguenti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algoritmi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di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Machine</a:t>
            </a:r>
            <a:r>
              <a:rPr sz="11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Learning</a:t>
            </a:r>
            <a:r>
              <a:rPr sz="11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supervisionato: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Random</a:t>
            </a:r>
            <a:r>
              <a:rPr sz="11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Forest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4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Support</a:t>
            </a:r>
            <a:r>
              <a:rPr sz="11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Vector</a:t>
            </a:r>
            <a:r>
              <a:rPr sz="1100" spc="-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Machine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0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K-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Nearest Neighbors</a:t>
            </a:r>
            <a:endParaRPr sz="1100">
              <a:latin typeface="Calibri"/>
              <a:cs typeface="Calibri"/>
            </a:endParaRPr>
          </a:p>
          <a:p>
            <a:pPr marL="288925" indent="-137795">
              <a:lnSpc>
                <a:spcPct val="100000"/>
              </a:lnSpc>
              <a:spcBef>
                <a:spcPts val="335"/>
              </a:spcBef>
              <a:buClr>
                <a:srgbClr val="003366"/>
              </a:buClr>
              <a:buChar char="•"/>
              <a:tabLst>
                <a:tab pos="28892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Gradient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Boosting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Classifier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modelli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sono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state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valutate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attraverso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accuratezza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15" dirty="0">
                <a:solidFill>
                  <a:srgbClr val="3F3F3F"/>
                </a:solidFill>
                <a:latin typeface="Calibri"/>
                <a:cs typeface="Calibri"/>
              </a:rPr>
              <a:t>sensibili</a:t>
            </a:r>
            <a:r>
              <a:rPr sz="1100" b="1" spc="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1100" b="1" spc="-42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1100" b="1" spc="120" dirty="0">
                <a:solidFill>
                  <a:srgbClr val="3F3F3F"/>
                </a:solidFill>
                <a:latin typeface="Calibri"/>
                <a:cs typeface="Calibri"/>
              </a:rPr>
              <a:t>`</a:t>
            </a:r>
            <a:r>
              <a:rPr sz="1100" spc="15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40" dirty="0">
                <a:solidFill>
                  <a:srgbClr val="3F3F3F"/>
                </a:solidFill>
                <a:latin typeface="Calibri"/>
                <a:cs typeface="Calibri"/>
              </a:rPr>
              <a:t>specificita`</a:t>
            </a:r>
            <a:r>
              <a:rPr sz="1100" b="1" spc="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35" dirty="0">
                <a:solidFill>
                  <a:srgbClr val="3F3F3F"/>
                </a:solidFill>
                <a:latin typeface="Calibri"/>
                <a:cs typeface="Calibri"/>
              </a:rPr>
              <a:t>f1-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Score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10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94" y="252930"/>
            <a:ext cx="5063490" cy="101536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732155" marR="15240">
              <a:lnSpc>
                <a:spcPct val="106700"/>
              </a:lnSpc>
              <a:spcBef>
                <a:spcPts val="20"/>
              </a:spcBef>
            </a:pPr>
            <a:r>
              <a:rPr dirty="0"/>
              <a:t>Addestramento</a:t>
            </a:r>
            <a:r>
              <a:rPr spc="70" dirty="0"/>
              <a:t> </a:t>
            </a:r>
            <a:r>
              <a:rPr dirty="0"/>
              <a:t>e</a:t>
            </a:r>
            <a:r>
              <a:rPr spc="70" dirty="0"/>
              <a:t> </a:t>
            </a:r>
            <a:r>
              <a:rPr dirty="0"/>
              <a:t>selezione</a:t>
            </a:r>
            <a:r>
              <a:rPr spc="75" dirty="0"/>
              <a:t> </a:t>
            </a:r>
            <a:r>
              <a:rPr dirty="0"/>
              <a:t>degli</a:t>
            </a:r>
            <a:r>
              <a:rPr spc="70" dirty="0"/>
              <a:t> </a:t>
            </a:r>
            <a:r>
              <a:rPr dirty="0"/>
              <a:t>iperparametri</a:t>
            </a:r>
            <a:r>
              <a:rPr spc="75" dirty="0"/>
              <a:t> </a:t>
            </a:r>
            <a:r>
              <a:rPr dirty="0"/>
              <a:t>con</a:t>
            </a:r>
            <a:r>
              <a:rPr spc="70" dirty="0"/>
              <a:t> </a:t>
            </a:r>
            <a:r>
              <a:rPr spc="-10" dirty="0"/>
              <a:t>Cross Validation</a:t>
            </a:r>
          </a:p>
          <a:p>
            <a:pPr marL="12700" marR="5080">
              <a:lnSpc>
                <a:spcPct val="102600"/>
              </a:lnSpc>
              <a:spcBef>
                <a:spcPts val="225"/>
              </a:spcBef>
            </a:pPr>
            <a:r>
              <a:rPr sz="1100" dirty="0">
                <a:solidFill>
                  <a:srgbClr val="3F3F3F"/>
                </a:solidFill>
              </a:rPr>
              <a:t>Per</a:t>
            </a:r>
            <a:r>
              <a:rPr sz="1100" spc="-60" dirty="0">
                <a:solidFill>
                  <a:srgbClr val="3F3F3F"/>
                </a:solidFill>
              </a:rPr>
              <a:t> </a:t>
            </a:r>
            <a:r>
              <a:rPr sz="1100" spc="-10" dirty="0">
                <a:solidFill>
                  <a:srgbClr val="3F3F3F"/>
                </a:solidFill>
              </a:rPr>
              <a:t>ottimizzare</a:t>
            </a:r>
            <a:r>
              <a:rPr sz="1100" spc="-25" dirty="0">
                <a:solidFill>
                  <a:srgbClr val="3F3F3F"/>
                </a:solidFill>
              </a:rPr>
              <a:t> </a:t>
            </a:r>
            <a:r>
              <a:rPr sz="1100" dirty="0">
                <a:solidFill>
                  <a:srgbClr val="3F3F3F"/>
                </a:solidFill>
              </a:rPr>
              <a:t>i</a:t>
            </a:r>
            <a:r>
              <a:rPr sz="1100" spc="-25" dirty="0">
                <a:solidFill>
                  <a:srgbClr val="3F3F3F"/>
                </a:solidFill>
              </a:rPr>
              <a:t> </a:t>
            </a:r>
            <a:r>
              <a:rPr sz="1100" spc="-10" dirty="0">
                <a:solidFill>
                  <a:srgbClr val="3F3F3F"/>
                </a:solidFill>
              </a:rPr>
              <a:t>modelli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,</a:t>
            </a:r>
            <a:r>
              <a:rPr sz="1100" b="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229" dirty="0">
                <a:solidFill>
                  <a:srgbClr val="3F3F3F"/>
                </a:solidFill>
                <a:latin typeface="Calibri"/>
                <a:cs typeface="Calibri"/>
              </a:rPr>
              <a:t>e`</a:t>
            </a:r>
            <a:r>
              <a:rPr sz="1100" b="0" spc="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stata</a:t>
            </a:r>
            <a:r>
              <a:rPr sz="1100" b="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utilizzata</a:t>
            </a:r>
            <a:r>
              <a:rPr sz="1100" b="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b="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</a:rPr>
              <a:t>Grid</a:t>
            </a:r>
            <a:r>
              <a:rPr sz="1100" spc="-25" dirty="0">
                <a:solidFill>
                  <a:srgbClr val="3F3F3F"/>
                </a:solidFill>
              </a:rPr>
              <a:t> </a:t>
            </a:r>
            <a:r>
              <a:rPr sz="1100" dirty="0">
                <a:solidFill>
                  <a:srgbClr val="3F3F3F"/>
                </a:solidFill>
              </a:rPr>
              <a:t>Search</a:t>
            </a:r>
            <a:r>
              <a:rPr sz="1100" spc="-25" dirty="0">
                <a:solidFill>
                  <a:srgbClr val="3F3F3F"/>
                </a:solidFill>
              </a:rPr>
              <a:t> </a:t>
            </a:r>
            <a:r>
              <a:rPr sz="1100" dirty="0">
                <a:solidFill>
                  <a:srgbClr val="3F3F3F"/>
                </a:solidFill>
              </a:rPr>
              <a:t>con</a:t>
            </a:r>
            <a:r>
              <a:rPr sz="1100" spc="-30" dirty="0">
                <a:solidFill>
                  <a:srgbClr val="3F3F3F"/>
                </a:solidFill>
              </a:rPr>
              <a:t> </a:t>
            </a:r>
            <a:r>
              <a:rPr sz="1100" dirty="0">
                <a:solidFill>
                  <a:srgbClr val="3F3F3F"/>
                </a:solidFill>
              </a:rPr>
              <a:t>Cross</a:t>
            </a:r>
            <a:r>
              <a:rPr sz="1100" spc="-25" dirty="0">
                <a:solidFill>
                  <a:srgbClr val="3F3F3F"/>
                </a:solidFill>
              </a:rPr>
              <a:t> </a:t>
            </a:r>
            <a:r>
              <a:rPr sz="1100" spc="-10" dirty="0">
                <a:solidFill>
                  <a:srgbClr val="3F3F3F"/>
                </a:solidFill>
              </a:rPr>
              <a:t>Validation</a:t>
            </a:r>
            <a:r>
              <a:rPr sz="1100" spc="-25" dirty="0">
                <a:solidFill>
                  <a:srgbClr val="3F3F3F"/>
                </a:solidFill>
              </a:rPr>
              <a:t>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(CV=5),</a:t>
            </a:r>
            <a:r>
              <a:rPr sz="1100" b="0" spc="-25" dirty="0">
                <a:solidFill>
                  <a:srgbClr val="3F3F3F"/>
                </a:solidFill>
                <a:latin typeface="Calibri"/>
                <a:cs typeface="Calibri"/>
              </a:rPr>
              <a:t> che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testa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diverse</a:t>
            </a:r>
            <a:r>
              <a:rPr sz="1100" b="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combinazioni</a:t>
            </a:r>
            <a:r>
              <a:rPr sz="1100" b="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di </a:t>
            </a:r>
            <a:r>
              <a:rPr sz="1100" spc="-10" dirty="0">
                <a:solidFill>
                  <a:srgbClr val="3F3F3F"/>
                </a:solidFill>
              </a:rPr>
              <a:t>iperparametri</a:t>
            </a:r>
            <a:r>
              <a:rPr sz="1100" spc="5" dirty="0">
                <a:solidFill>
                  <a:srgbClr val="3F3F3F"/>
                </a:solidFill>
              </a:rPr>
              <a:t> 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b="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individuare</a:t>
            </a:r>
            <a:r>
              <a:rPr sz="1100" b="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la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configurazione</a:t>
            </a:r>
            <a:r>
              <a:rPr sz="1100" b="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spc="-25" dirty="0">
                <a:solidFill>
                  <a:srgbClr val="3F3F3F"/>
                </a:solidFill>
                <a:latin typeface="Calibri"/>
                <a:cs typeface="Calibri"/>
              </a:rPr>
              <a:t>che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massimizza</a:t>
            </a:r>
            <a:r>
              <a:rPr sz="1100" b="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le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r>
              <a:rPr sz="1100" b="0" dirty="0">
                <a:solidFill>
                  <a:srgbClr val="3F3F3F"/>
                </a:solidFill>
                <a:latin typeface="Calibri"/>
                <a:cs typeface="Calibri"/>
              </a:rPr>
              <a:t> del </a:t>
            </a:r>
            <a:r>
              <a:rPr sz="1100" b="0" spc="-10" dirty="0">
                <a:solidFill>
                  <a:srgbClr val="3F3F3F"/>
                </a:solidFill>
                <a:latin typeface="Calibri"/>
                <a:cs typeface="Calibri"/>
              </a:rPr>
              <a:t>classificatore.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313381"/>
            <a:ext cx="5760085" cy="1927225"/>
            <a:chOff x="0" y="1313381"/>
            <a:chExt cx="5760085" cy="1927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7980" y="1313381"/>
              <a:ext cx="3023993" cy="16041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915996"/>
              <a:ext cx="5760085" cy="324485"/>
            </a:xfrm>
            <a:custGeom>
              <a:avLst/>
              <a:gdLst/>
              <a:ahLst/>
              <a:cxnLst/>
              <a:rect l="l" t="t" r="r" b="b"/>
              <a:pathLst>
                <a:path w="5760085" h="324485">
                  <a:moveTo>
                    <a:pt x="5759996" y="0"/>
                  </a:moveTo>
                  <a:lnTo>
                    <a:pt x="0" y="0"/>
                  </a:lnTo>
                  <a:lnTo>
                    <a:pt x="0" y="324002"/>
                  </a:lnTo>
                  <a:lnTo>
                    <a:pt x="5759996" y="324002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11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Valutazione</a:t>
            </a:r>
            <a:r>
              <a:rPr spc="60" dirty="0"/>
              <a:t> </a:t>
            </a:r>
            <a:r>
              <a:rPr dirty="0"/>
              <a:t>dei</a:t>
            </a:r>
            <a:r>
              <a:rPr spc="65" dirty="0"/>
              <a:t> </a:t>
            </a:r>
            <a:r>
              <a:rPr dirty="0"/>
              <a:t>modelli</a:t>
            </a:r>
            <a:r>
              <a:rPr spc="65" dirty="0"/>
              <a:t> </a:t>
            </a:r>
            <a:r>
              <a:rPr dirty="0"/>
              <a:t>-</a:t>
            </a:r>
            <a:r>
              <a:rPr spc="65" dirty="0"/>
              <a:t> </a:t>
            </a:r>
            <a:r>
              <a:rPr dirty="0"/>
              <a:t>Esperimento</a:t>
            </a:r>
            <a:r>
              <a:rPr spc="65" dirty="0"/>
              <a:t> </a:t>
            </a:r>
            <a:r>
              <a:rPr spc="-25" dirty="0"/>
              <a:t>n.3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02892"/>
            <a:ext cx="47459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Il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modello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Random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Forest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ha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ottenuto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performance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migliori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tra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quelli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testati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nella validazione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incrociata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tra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dataset.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7352" y="1253693"/>
          <a:ext cx="5021580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7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25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Modello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TP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TN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FP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FN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Sens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Spec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Acc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1" spc="-5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F1-</a:t>
                      </a:r>
                      <a:r>
                        <a:rPr sz="1100" b="1" spc="-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b="1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Random</a:t>
                      </a:r>
                      <a:r>
                        <a:rPr sz="1100" b="1" spc="-4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Forest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647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299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89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0.70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Vector</a:t>
                      </a:r>
                      <a:r>
                        <a:rPr sz="1100" spc="-4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100" spc="-4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(SVM)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593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265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161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0.73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0.79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Gradient</a:t>
                      </a:r>
                      <a:r>
                        <a:rPr sz="1100" spc="-3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Boosting</a:t>
                      </a:r>
                      <a:r>
                        <a:rPr sz="1100" spc="-3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Classifier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614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275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151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K-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Nearest</a:t>
                      </a:r>
                      <a:r>
                        <a:rPr sz="1100" spc="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Neighbors</a:t>
                      </a:r>
                      <a:r>
                        <a:rPr sz="1100" spc="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(KNN)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605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276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156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5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125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0.63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0.75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sz="11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0.81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3F3F3F"/>
                      </a:solidFill>
                      <a:prstDash val="solid"/>
                    </a:lnL>
                    <a:lnR w="6350">
                      <a:solidFill>
                        <a:srgbClr val="3F3F3F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200514"/>
            <a:ext cx="44780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Questi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risultati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confermano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Calibri"/>
                <a:cs typeface="Calibri"/>
              </a:rPr>
              <a:t>fattibilita`</a:t>
            </a:r>
            <a:r>
              <a:rPr sz="1100" spc="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un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approccio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basato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la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classificazione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automatica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della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atriale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segmenti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ECG.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12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Importanza</a:t>
            </a:r>
            <a:r>
              <a:rPr spc="85" dirty="0"/>
              <a:t> </a:t>
            </a:r>
            <a:r>
              <a:rPr dirty="0"/>
              <a:t>delle</a:t>
            </a:r>
            <a:r>
              <a:rPr spc="85" dirty="0"/>
              <a:t> </a:t>
            </a:r>
            <a:r>
              <a:rPr spc="-10" dirty="0"/>
              <a:t>feature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304" y="993811"/>
            <a:ext cx="2999105" cy="1232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89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metrica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Deceleration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Capacity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(DC),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derivata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dalla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tecnica</a:t>
            </a:r>
            <a:r>
              <a:rPr sz="1100" spc="-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PRSA,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29" dirty="0">
                <a:solidFill>
                  <a:srgbClr val="3F3F3F"/>
                </a:solidFill>
                <a:latin typeface="Calibri"/>
                <a:cs typeface="Calibri"/>
              </a:rPr>
              <a:t>e`</a:t>
            </a:r>
            <a:r>
              <a:rPr sz="1100" spc="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risultata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5" dirty="0">
                <a:solidFill>
                  <a:srgbClr val="3F3F3F"/>
                </a:solidFill>
                <a:latin typeface="Calibri"/>
                <a:cs typeface="Calibri"/>
              </a:rPr>
              <a:t>piu`</a:t>
            </a:r>
            <a:r>
              <a:rPr sz="1100" b="1" spc="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informativa</a:t>
            </a:r>
            <a:r>
              <a:rPr sz="1100" b="1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nel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distinguere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tracciati 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affetti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da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atriale.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Anche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non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lineari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(Sample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Entropy, Approximate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Entropy)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hanno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mostrato</a:t>
            </a:r>
            <a:r>
              <a:rPr sz="11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alta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rilevanza, riflettendo</a:t>
            </a:r>
            <a:r>
              <a:rPr sz="1100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l’</a:t>
            </a:r>
            <a:r>
              <a:rPr sz="1100" b="1" spc="-35" dirty="0">
                <a:solidFill>
                  <a:srgbClr val="3F3F3F"/>
                </a:solidFill>
                <a:latin typeface="Calibri"/>
                <a:cs typeface="Calibri"/>
              </a:rPr>
              <a:t>irregolarita`</a:t>
            </a:r>
            <a:r>
              <a:rPr sz="1100" b="1" spc="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segnale.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8445" y="1148587"/>
            <a:ext cx="1832741" cy="11218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13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Conclusioni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21955"/>
            <a:ext cx="503745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L’approccio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basato su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ha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dimostrato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efficacia</a:t>
            </a:r>
            <a:r>
              <a:rPr sz="11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nell’identificazione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automatica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della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fibrillazione</a:t>
            </a:r>
            <a:r>
              <a:rPr sz="11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atriale.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Risultati</a:t>
            </a:r>
            <a:r>
              <a:rPr spc="-20" dirty="0"/>
              <a:t> </a:t>
            </a:r>
            <a:r>
              <a:rPr spc="-10" dirty="0"/>
              <a:t>principali</a:t>
            </a:r>
          </a:p>
          <a:p>
            <a:pPr marL="150495" marR="539115" indent="-138430">
              <a:lnSpc>
                <a:spcPct val="102600"/>
              </a:lnSpc>
              <a:spcBef>
                <a:spcPts val="300"/>
              </a:spcBef>
              <a:buClr>
                <a:srgbClr val="003366"/>
              </a:buClr>
              <a:buFont typeface="Calibri"/>
              <a:buChar char="•"/>
              <a:tabLst>
                <a:tab pos="150495" algn="l"/>
              </a:tabLst>
            </a:pPr>
            <a:r>
              <a:rPr dirty="0"/>
              <a:t>Random</a:t>
            </a:r>
            <a:r>
              <a:rPr spc="-25" dirty="0"/>
              <a:t> </a:t>
            </a:r>
            <a:r>
              <a:rPr spc="-10" dirty="0"/>
              <a:t>Forest</a:t>
            </a:r>
            <a:r>
              <a:rPr spc="-25" dirty="0"/>
              <a:t> </a:t>
            </a:r>
            <a:r>
              <a:rPr b="0" dirty="0">
                <a:latin typeface="Calibri"/>
                <a:cs typeface="Calibri"/>
              </a:rPr>
              <a:t>ha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ottenuto</a:t>
            </a:r>
            <a:r>
              <a:rPr b="0" spc="-25" dirty="0">
                <a:latin typeface="Calibri"/>
                <a:cs typeface="Calibri"/>
              </a:rPr>
              <a:t> le </a:t>
            </a:r>
            <a:r>
              <a:rPr b="0" spc="-10" dirty="0">
                <a:latin typeface="Calibri"/>
                <a:cs typeface="Calibri"/>
              </a:rPr>
              <a:t>performance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migliori.</a:t>
            </a:r>
          </a:p>
          <a:p>
            <a:pPr marL="150495" marR="5080" indent="-138430">
              <a:lnSpc>
                <a:spcPct val="102600"/>
              </a:lnSpc>
              <a:spcBef>
                <a:spcPts val="300"/>
              </a:spcBef>
              <a:buClr>
                <a:srgbClr val="003366"/>
              </a:buClr>
              <a:buChar char="•"/>
              <a:tabLst>
                <a:tab pos="150495" algn="l"/>
              </a:tabLst>
            </a:pPr>
            <a:r>
              <a:rPr b="0" dirty="0">
                <a:latin typeface="Calibri"/>
                <a:cs typeface="Calibri"/>
              </a:rPr>
              <a:t>La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metrica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spc="-10" dirty="0"/>
              <a:t>Deceleration</a:t>
            </a:r>
            <a:r>
              <a:rPr spc="-15" dirty="0"/>
              <a:t> </a:t>
            </a:r>
            <a:r>
              <a:rPr spc="-10" dirty="0"/>
              <a:t>Capacity</a:t>
            </a:r>
            <a:r>
              <a:rPr spc="-15" dirty="0"/>
              <a:t> </a:t>
            </a:r>
            <a:r>
              <a:rPr dirty="0"/>
              <a:t>(DC)</a:t>
            </a:r>
            <a:r>
              <a:rPr spc="-10" dirty="0"/>
              <a:t> </a:t>
            </a:r>
            <a:r>
              <a:rPr b="0" spc="-185" dirty="0">
                <a:latin typeface="Calibri"/>
                <a:cs typeface="Calibri"/>
              </a:rPr>
              <a:t>e`</a:t>
            </a:r>
            <a:r>
              <a:rPr b="0" spc="-10" dirty="0">
                <a:latin typeface="Calibri"/>
                <a:cs typeface="Calibri"/>
              </a:rPr>
              <a:t> risultata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5" dirty="0">
                <a:latin typeface="Calibri"/>
                <a:cs typeface="Calibri"/>
              </a:rPr>
              <a:t>piu`</a:t>
            </a:r>
            <a:r>
              <a:rPr b="0" spc="1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importante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nel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nostro studio.</a:t>
            </a:r>
          </a:p>
          <a:p>
            <a:pPr marL="150495" marR="104775" indent="-138430">
              <a:lnSpc>
                <a:spcPct val="102699"/>
              </a:lnSpc>
              <a:spcBef>
                <a:spcPts val="295"/>
              </a:spcBef>
              <a:buClr>
                <a:srgbClr val="003366"/>
              </a:buClr>
              <a:buChar char="•"/>
              <a:tabLst>
                <a:tab pos="150495" algn="l"/>
              </a:tabLst>
            </a:pPr>
            <a:r>
              <a:rPr b="0" dirty="0">
                <a:latin typeface="Calibri"/>
                <a:cs typeface="Calibri"/>
              </a:rPr>
              <a:t>Buona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capacita`</a:t>
            </a:r>
            <a:r>
              <a:rPr b="0" spc="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spc="-10" dirty="0"/>
              <a:t>generalizzazione</a:t>
            </a:r>
            <a:r>
              <a:rPr spc="-20" dirty="0"/>
              <a:t> </a:t>
            </a:r>
            <a:r>
              <a:rPr b="0" spc="-25" dirty="0">
                <a:latin typeface="Calibri"/>
                <a:cs typeface="Calibri"/>
              </a:rPr>
              <a:t>su </a:t>
            </a:r>
            <a:r>
              <a:rPr b="0" spc="-10" dirty="0">
                <a:latin typeface="Calibri"/>
                <a:cs typeface="Calibri"/>
              </a:rPr>
              <a:t>dataset</a:t>
            </a:r>
            <a:r>
              <a:rPr b="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eterogenei.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26117" y="1218588"/>
            <a:ext cx="2307590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Sviluppi</a:t>
            </a:r>
            <a:r>
              <a:rPr sz="1100" b="1" spc="-1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futuri</a:t>
            </a:r>
            <a:endParaRPr sz="1100">
              <a:latin typeface="Calibri"/>
              <a:cs typeface="Calibri"/>
            </a:endParaRPr>
          </a:p>
          <a:p>
            <a:pPr marL="150495" marR="248285" indent="-138430">
              <a:lnSpc>
                <a:spcPct val="102600"/>
              </a:lnSpc>
              <a:spcBef>
                <a:spcPts val="300"/>
              </a:spcBef>
              <a:buClr>
                <a:srgbClr val="003366"/>
              </a:buClr>
              <a:buChar char="•"/>
              <a:tabLst>
                <a:tab pos="15049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Integrazione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con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approcci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 </a:t>
            </a:r>
            <a:r>
              <a:rPr sz="1100" b="1" spc="-20" dirty="0">
                <a:solidFill>
                  <a:srgbClr val="3F3F3F"/>
                </a:solidFill>
                <a:latin typeface="Calibri"/>
                <a:cs typeface="Calibri"/>
              </a:rPr>
              <a:t>deep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learning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50495" indent="-137795">
              <a:lnSpc>
                <a:spcPct val="100000"/>
              </a:lnSpc>
              <a:spcBef>
                <a:spcPts val="330"/>
              </a:spcBef>
              <a:buClr>
                <a:srgbClr val="003366"/>
              </a:buClr>
              <a:buChar char="•"/>
              <a:tabLst>
                <a:tab pos="150495" algn="l"/>
              </a:tabLst>
            </a:pP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Applicazione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del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modello</a:t>
            </a:r>
            <a:r>
              <a:rPr sz="11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 scenari</a:t>
            </a:r>
            <a:endParaRPr sz="11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35"/>
              </a:spcBef>
            </a:pP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real-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time</a:t>
            </a:r>
            <a:r>
              <a:rPr sz="1100" b="1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su</a:t>
            </a:r>
            <a:r>
              <a:rPr sz="11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dispositivi</a:t>
            </a:r>
            <a:r>
              <a:rPr sz="1100" spc="-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wearable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50495" marR="5080" indent="-138430">
              <a:lnSpc>
                <a:spcPct val="102600"/>
              </a:lnSpc>
              <a:spcBef>
                <a:spcPts val="300"/>
              </a:spcBef>
              <a:buClr>
                <a:srgbClr val="003366"/>
              </a:buClr>
              <a:buChar char="•"/>
              <a:tabLst>
                <a:tab pos="150495" algn="l"/>
              </a:tabLst>
            </a:pP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Studio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di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tecniche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per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la</a:t>
            </a:r>
            <a:r>
              <a:rPr sz="11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selezione automatica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3F3F3F"/>
                </a:solidFill>
                <a:latin typeface="Calibri"/>
                <a:cs typeface="Calibri"/>
              </a:rPr>
              <a:t>delle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F3F3F"/>
                </a:solidFill>
                <a:latin typeface="Calibri"/>
                <a:cs typeface="Calibri"/>
              </a:rPr>
              <a:t>feature</a:t>
            </a:r>
            <a:r>
              <a:rPr sz="1100" b="1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5" dirty="0">
                <a:solidFill>
                  <a:srgbClr val="3F3F3F"/>
                </a:solidFill>
                <a:latin typeface="Calibri"/>
                <a:cs typeface="Calibri"/>
              </a:rPr>
              <a:t>piu`</a:t>
            </a:r>
            <a:r>
              <a:rPr sz="1100" spc="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F3F3F"/>
                </a:solidFill>
                <a:latin typeface="Calibri"/>
                <a:cs typeface="Calibri"/>
              </a:rPr>
              <a:t>rilevanti.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2915996"/>
            <a:ext cx="5760085" cy="324485"/>
          </a:xfrm>
          <a:custGeom>
            <a:avLst/>
            <a:gdLst/>
            <a:ahLst/>
            <a:cxnLst/>
            <a:rect l="l" t="t" r="r" b="b"/>
            <a:pathLst>
              <a:path w="5760085" h="324485">
                <a:moveTo>
                  <a:pt x="5759996" y="0"/>
                </a:moveTo>
                <a:lnTo>
                  <a:pt x="0" y="0"/>
                </a:lnTo>
                <a:lnTo>
                  <a:pt x="0" y="324002"/>
                </a:lnTo>
                <a:lnTo>
                  <a:pt x="5759996" y="324002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14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363" y="1440698"/>
            <a:ext cx="4978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libri"/>
                <a:cs typeface="Calibri"/>
              </a:rPr>
              <a:t>Grazie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7465" marR="5080">
              <a:lnSpc>
                <a:spcPts val="950"/>
              </a:lnSpc>
              <a:spcBef>
                <a:spcPts val="150"/>
              </a:spcBef>
            </a:pPr>
            <a:fld id="{81D60167-4931-47E6-BA6A-407CBD079E47}" type="slidenum">
              <a:rPr dirty="0"/>
              <a:t>15</a:t>
            </a:fld>
            <a:r>
              <a:rPr dirty="0"/>
              <a:t>/15</a:t>
            </a:r>
            <a:r>
              <a:rPr spc="240" dirty="0"/>
              <a:t>  </a:t>
            </a:r>
            <a:r>
              <a:rPr spc="-10" dirty="0"/>
              <a:t>Biagio</a:t>
            </a:r>
            <a:r>
              <a:rPr spc="-15" dirty="0"/>
              <a:t> </a:t>
            </a:r>
            <a:r>
              <a:rPr spc="-30" dirty="0"/>
              <a:t>Chiaranda`</a:t>
            </a:r>
            <a:r>
              <a:rPr spc="260" dirty="0"/>
              <a:t> </a:t>
            </a:r>
            <a:r>
              <a:rPr i="1" dirty="0">
                <a:latin typeface="Arial"/>
                <a:cs typeface="Arial"/>
              </a:rPr>
              <a:t>|</a:t>
            </a:r>
            <a:r>
              <a:rPr i="1" spc="155" dirty="0">
                <a:latin typeface="Arial"/>
                <a:cs typeface="Arial"/>
              </a:rPr>
              <a:t> </a:t>
            </a:r>
            <a:r>
              <a:rPr spc="-10" dirty="0"/>
              <a:t>Sviluppo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spc="-10" dirty="0"/>
              <a:t>algoritmi</a:t>
            </a:r>
            <a:r>
              <a:rPr spc="-15" dirty="0"/>
              <a:t> </a:t>
            </a:r>
            <a:r>
              <a:rPr dirty="0"/>
              <a:t>di</a:t>
            </a:r>
            <a:r>
              <a:rPr spc="-15" dirty="0"/>
              <a:t> </a:t>
            </a:r>
            <a:r>
              <a:rPr dirty="0"/>
              <a:t>machine</a:t>
            </a:r>
            <a:r>
              <a:rPr spc="-10" dirty="0"/>
              <a:t> learning </a:t>
            </a:r>
            <a:r>
              <a:rPr dirty="0"/>
              <a:t>per</a:t>
            </a:r>
            <a:r>
              <a:rPr spc="-15" dirty="0"/>
              <a:t> </a:t>
            </a:r>
            <a:r>
              <a:rPr spc="-10" dirty="0"/>
              <a:t>l’identificazione</a:t>
            </a:r>
            <a:r>
              <a:rPr spc="-15" dirty="0"/>
              <a:t> </a:t>
            </a:r>
            <a:r>
              <a:rPr dirty="0"/>
              <a:t>della</a:t>
            </a:r>
            <a:r>
              <a:rPr spc="-15" dirty="0"/>
              <a:t> </a:t>
            </a:r>
            <a:r>
              <a:rPr spc="-10" dirty="0"/>
              <a:t>fibrillazione </a:t>
            </a:r>
            <a:r>
              <a:rPr dirty="0"/>
              <a:t>atriale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10" dirty="0"/>
              <a:t>partire</a:t>
            </a:r>
            <a:r>
              <a:rPr spc="500" dirty="0"/>
              <a:t> </a:t>
            </a:r>
            <a:r>
              <a:rPr dirty="0"/>
              <a:t>da</a:t>
            </a:r>
            <a:r>
              <a:rPr spc="-5" dirty="0"/>
              <a:t> </a:t>
            </a:r>
            <a:r>
              <a:rPr dirty="0"/>
              <a:t>serie</a:t>
            </a:r>
            <a:r>
              <a:rPr spc="-5" dirty="0"/>
              <a:t> </a:t>
            </a:r>
            <a:r>
              <a:rPr spc="-10" dirty="0"/>
              <a:t>temporali</a:t>
            </a:r>
            <a:r>
              <a:rPr spc="-5" dirty="0"/>
              <a:t> </a:t>
            </a:r>
            <a:r>
              <a:rPr dirty="0"/>
              <a:t>di</a:t>
            </a:r>
            <a:r>
              <a:rPr spc="-5" dirty="0"/>
              <a:t> </a:t>
            </a:r>
            <a:r>
              <a:rPr spc="-35" dirty="0"/>
              <a:t>variabilita`</a:t>
            </a:r>
            <a:r>
              <a:rPr spc="70" dirty="0"/>
              <a:t> </a:t>
            </a:r>
            <a:r>
              <a:rPr spc="-10" dirty="0"/>
              <a:t>cardiaca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1260</Words>
  <Application>Microsoft Office PowerPoint</Application>
  <PresentationFormat>Personalizzato</PresentationFormat>
  <Paragraphs>161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Sviluppo di algoritmi di machine learning per l’identificazione della fibrillazione atriale a partire da serie temporali di variabilita` cardiaca</vt:lpstr>
      <vt:lpstr>Contesto iniziale</vt:lpstr>
      <vt:lpstr>Obiettivo del lavoro</vt:lpstr>
      <vt:lpstr>Cos’e` la Fibrillazione Atriale?</vt:lpstr>
      <vt:lpstr>Dataset utilizzati</vt:lpstr>
      <vt:lpstr>Esperimenti</vt:lpstr>
      <vt:lpstr>Preprocessing</vt:lpstr>
      <vt:lpstr>Intervalli RR</vt:lpstr>
      <vt:lpstr>Feature</vt:lpstr>
      <vt:lpstr>Algoritmi di classificazione</vt:lpstr>
      <vt:lpstr>Addestramento e selezione degli iperparametri con Cross Validation Per ottimizzare i modelli, e` stata utilizzata la Grid Search con Cross Validation (CV=5), che testa diverse combinazioni di iperparametri per individuare la configurazione che massimizza le performance del classificatore.</vt:lpstr>
      <vt:lpstr>Valutazione dei modelli - Esperimento n.3</vt:lpstr>
      <vt:lpstr>Importanza delle feature</vt:lpstr>
      <vt:lpstr>Conclusioni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Sviluppo di algoritmi di machine learning per l’identificazione della fibrillazione atriale a partire da serie temporali di variabilità cardiaca</dc:title>
  <dc:creator>Biagio Chiarandà</dc:creator>
  <cp:lastModifiedBy>Biagio Chiaranda</cp:lastModifiedBy>
  <cp:revision>1</cp:revision>
  <dcterms:created xsi:type="dcterms:W3CDTF">2025-04-09T23:58:48Z</dcterms:created>
  <dcterms:modified xsi:type="dcterms:W3CDTF">2025-04-09T23:59:37Z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2025-04-09T00:00:00Z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3-Heights(TM) PDF Security Shell 4.8.25.2 (http://www.pdf-tools.com)</vt:lpwstr>
  </property>
</Properties>
</file>